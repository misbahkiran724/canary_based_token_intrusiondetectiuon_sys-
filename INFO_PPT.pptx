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7" r:id="rId3"/>
    <p:sldId id="264" r:id="rId4"/>
    <p:sldId id="267" r:id="rId5"/>
    <p:sldId id="268" r:id="rId6"/>
    <p:sldId id="271" r:id="rId7"/>
    <p:sldId id="27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2727"/>
    <a:srgbClr val="3F1D1D"/>
    <a:srgbClr val="A09090"/>
    <a:srgbClr val="8D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29" autoAdjust="0"/>
    <p:restoredTop sz="94660"/>
  </p:normalViewPr>
  <p:slideViewPr>
    <p:cSldViewPr snapToGrid="0">
      <p:cViewPr varScale="1">
        <p:scale>
          <a:sx n="81" d="100"/>
          <a:sy n="81" d="100"/>
        </p:scale>
        <p:origin x="23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33679-9DA8-4A29-B79B-3CA0B267AFD6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D599F-339F-4D03-8166-B76950E9D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61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33679-9DA8-4A29-B79B-3CA0B267AFD6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D599F-339F-4D03-8166-B76950E9D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05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33679-9DA8-4A29-B79B-3CA0B267AFD6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D599F-339F-4D03-8166-B76950E9D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561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33679-9DA8-4A29-B79B-3CA0B267AFD6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D599F-339F-4D03-8166-B76950E9D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874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33679-9DA8-4A29-B79B-3CA0B267AFD6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D599F-339F-4D03-8166-B76950E9D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150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33679-9DA8-4A29-B79B-3CA0B267AFD6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D599F-339F-4D03-8166-B76950E9D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099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33679-9DA8-4A29-B79B-3CA0B267AFD6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D599F-339F-4D03-8166-B76950E9D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355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33679-9DA8-4A29-B79B-3CA0B267AFD6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D599F-339F-4D03-8166-B76950E9D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693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33679-9DA8-4A29-B79B-3CA0B267AFD6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D599F-339F-4D03-8166-B76950E9D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956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33679-9DA8-4A29-B79B-3CA0B267AFD6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D599F-339F-4D03-8166-B76950E9D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603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33679-9DA8-4A29-B79B-3CA0B267AFD6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D599F-339F-4D03-8166-B76950E9D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701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bg1"/>
            </a:gs>
            <a:gs pos="100000">
              <a:schemeClr val="accent1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133679-9DA8-4A29-B79B-3CA0B267AFD6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D599F-339F-4D03-8166-B76950E9D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22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5265" y="0"/>
            <a:ext cx="768356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 smtClean="0">
                <a:latin typeface="Arial Black" panose="020B0A04020102020204" pitchFamily="34" charset="0"/>
              </a:rPr>
              <a:t>Information</a:t>
            </a:r>
            <a:r>
              <a:rPr lang="en-US" sz="8800" b="1" dirty="0" smtClean="0">
                <a:latin typeface="Arial Black" panose="020B0A04020102020204" pitchFamily="34" charset="0"/>
              </a:rPr>
              <a:t> </a:t>
            </a:r>
            <a:r>
              <a:rPr lang="en-US" sz="8800" b="1" dirty="0" smtClean="0">
                <a:latin typeface="Arial Black" panose="020B0A04020102020204" pitchFamily="34" charset="0"/>
              </a:rPr>
              <a:t>Security</a:t>
            </a:r>
            <a:endParaRPr lang="en-US" sz="8800" b="1" dirty="0">
              <a:latin typeface="Arial Black" panose="020B0A040201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3568" y="1633415"/>
            <a:ext cx="5908432" cy="52245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8923" y="4142154"/>
            <a:ext cx="1500554" cy="367323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endParaRPr lang="en-US" sz="5400" b="1" cap="none" spc="0" dirty="0" smtClean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5265" y="2855964"/>
            <a:ext cx="570627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US" sz="24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Intro and working</a:t>
            </a:r>
            <a:endParaRPr lang="en-US" sz="2400" b="1" cap="none" spc="0" dirty="0" smtClean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320356" y="3317629"/>
            <a:ext cx="4446317" cy="1202981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4127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i="1" dirty="0" err="1" smtClean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Misbah</a:t>
            </a:r>
            <a:r>
              <a:rPr lang="en-US" sz="3600" b="1" i="1" dirty="0" smtClean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i="1" dirty="0" err="1" smtClean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Kiran</a:t>
            </a:r>
            <a:r>
              <a:rPr lang="en-US" sz="3600" b="1" i="1" dirty="0" smtClean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sz="3600" b="1" i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356" y="4796342"/>
            <a:ext cx="4517367" cy="7694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3F1D1D">
                <a:alpha val="64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BITF24M042</a:t>
            </a:r>
            <a:endParaRPr lang="en-US" sz="4400" b="1" dirty="0">
              <a:ln w="0"/>
              <a:solidFill>
                <a:schemeClr val="accent6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86946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82819" y="1127216"/>
            <a:ext cx="6266473" cy="470898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  <a:alpha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6000" dirty="0"/>
              <a:t>Multi-Layer Canary Token Based Intrusion Detection System</a:t>
            </a:r>
            <a:r>
              <a:rPr lang="en-US" sz="6000" dirty="0" smtClean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</a:rPr>
              <a:t>:_________</a:t>
            </a:r>
            <a:endParaRPr lang="en-US" sz="6000" b="1" dirty="0" smtClean="0">
              <a:solidFill>
                <a:schemeClr val="accent6">
                  <a:lumMod val="50000"/>
                </a:schemeClr>
              </a:solidFill>
              <a:latin typeface="Arial Black" panose="020B0A04020102020204" pitchFamily="34" charset="0"/>
            </a:endParaRPr>
          </a:p>
          <a:p>
            <a:r>
              <a:rPr lang="en-US" sz="6000" b="1" dirty="0" smtClean="0">
                <a:solidFill>
                  <a:schemeClr val="accent6">
                    <a:lumMod val="50000"/>
                  </a:schemeClr>
                </a:solidFill>
                <a:latin typeface="Arial Black" panose="020B0A04020102020204" pitchFamily="34" charset="0"/>
              </a:rPr>
              <a:t> </a:t>
            </a:r>
            <a:endParaRPr lang="en-US" sz="6000" dirty="0">
              <a:solidFill>
                <a:schemeClr val="bg2">
                  <a:lumMod val="2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8767" y="429847"/>
            <a:ext cx="5365121" cy="270232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8767" y="2893089"/>
            <a:ext cx="5365121" cy="294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664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12615" y="1061634"/>
            <a:ext cx="11637107" cy="726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pPr algn="ctr"/>
            <a:r>
              <a:rPr lang="en-US" sz="6600" b="1" dirty="0"/>
              <a:t>Introduction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 smtClean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/>
              <a:t>Rapid </a:t>
            </a:r>
            <a:r>
              <a:rPr lang="en-US" sz="2000" dirty="0"/>
              <a:t>increase in cyber threats makes </a:t>
            </a:r>
            <a:r>
              <a:rPr lang="en-US" sz="2000" b="1" dirty="0"/>
              <a:t>information security essential</a:t>
            </a:r>
            <a:r>
              <a:rPr lang="en-US" sz="2000" dirty="0"/>
              <a:t>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Traditional systems focus on </a:t>
            </a:r>
            <a:r>
              <a:rPr lang="en-US" sz="2000" b="1" dirty="0"/>
              <a:t>external attacks</a:t>
            </a:r>
            <a:r>
              <a:rPr lang="en-US" sz="2000" dirty="0"/>
              <a:t>, ignore internal misuse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Sensitive files can be accessed without detection ⚠️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This project uses </a:t>
            </a:r>
            <a:r>
              <a:rPr lang="en-US" sz="2000" b="1" dirty="0"/>
              <a:t>canary tokens (decoy files)</a:t>
            </a:r>
            <a:r>
              <a:rPr lang="en-US" sz="2000" dirty="0"/>
              <a:t> as traps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Any access, modification, or deletion triggers an </a:t>
            </a:r>
            <a:r>
              <a:rPr lang="en-US" sz="2000" b="1" dirty="0"/>
              <a:t>instant alert</a:t>
            </a:r>
            <a:r>
              <a:rPr lang="en-US" sz="2000" dirty="0"/>
              <a:t> 🚨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System also records activity with </a:t>
            </a:r>
            <a:r>
              <a:rPr lang="en-US" sz="2000" b="1" dirty="0"/>
              <a:t>timestamp logging</a:t>
            </a:r>
            <a:r>
              <a:rPr lang="en-US" sz="2000" dirty="0"/>
              <a:t>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Demonstrates a simple </a:t>
            </a:r>
            <a:r>
              <a:rPr lang="en-US" sz="2000" b="1" dirty="0"/>
              <a:t>deception-based intrusion detection system</a:t>
            </a: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000" b="1" dirty="0" smtClean="0"/>
          </a:p>
          <a:p>
            <a:endParaRPr lang="en-US" sz="3600" b="1" dirty="0"/>
          </a:p>
          <a:p>
            <a:endParaRPr lang="en-US" sz="3600" b="1" dirty="0" smtClean="0"/>
          </a:p>
          <a:p>
            <a:endParaRPr lang="en-US" sz="3600" b="1" dirty="0"/>
          </a:p>
          <a:p>
            <a:endParaRPr lang="en-US" sz="3600" b="1" dirty="0" smtClean="0"/>
          </a:p>
          <a:p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871766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5980" y="291367"/>
            <a:ext cx="121939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0" lvl="0" indent="-8572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7200" b="1" dirty="0" smtClean="0">
                <a:latin typeface="Arial" panose="020B0604020202020204" pitchFamily="34" charset="0"/>
              </a:rPr>
              <a:t> </a:t>
            </a:r>
            <a:r>
              <a:rPr lang="en-US" sz="7200" b="1" dirty="0">
                <a:latin typeface="Arial" panose="020B0604020202020204" pitchFamily="34" charset="0"/>
              </a:rPr>
              <a:t>Working of the System</a:t>
            </a:r>
          </a:p>
        </p:txBody>
      </p:sp>
      <p:sp>
        <p:nvSpPr>
          <p:cNvPr id="5" name="Cloud Callout 4"/>
          <p:cNvSpPr/>
          <p:nvPr/>
        </p:nvSpPr>
        <p:spPr>
          <a:xfrm>
            <a:off x="8009681" y="2662177"/>
            <a:ext cx="1909823" cy="937549"/>
          </a:xfrm>
          <a:prstGeom prst="cloudCallou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endParaRPr lang="en-US" sz="5400" b="1" cap="none" spc="0" dirty="0" smtClean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6" name="Cloud Callout 5"/>
          <p:cNvSpPr/>
          <p:nvPr/>
        </p:nvSpPr>
        <p:spPr>
          <a:xfrm>
            <a:off x="8218025" y="1469986"/>
            <a:ext cx="3703899" cy="3703898"/>
          </a:xfrm>
          <a:prstGeom prst="cloudCallou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endParaRPr lang="en-US" sz="5400" b="1" cap="none" spc="0" dirty="0" smtClean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429" y="1885622"/>
            <a:ext cx="4244149" cy="3782646"/>
          </a:xfrm>
          <a:prstGeom prst="rect">
            <a:avLst/>
          </a:prstGeom>
          <a:effectLst>
            <a:glow rad="127000">
              <a:schemeClr val="accent1"/>
            </a:glow>
          </a:effectLst>
          <a:scene3d>
            <a:camera prst="orthographicFront"/>
            <a:lightRig rig="threePt" dir="t"/>
          </a:scene3d>
          <a:sp3d>
            <a:bevelT prst="relaxedInset"/>
            <a:bevelB prst="convex"/>
          </a:sp3d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45720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193795" y="2344281"/>
            <a:ext cx="8009681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starts by creating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canary (decoy) files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such as passwords and 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files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is given options to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access, modify, or delete files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a canary file is used, it is treated as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suspicious activity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⚠️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immediately shows a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 alert on screen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🚨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sound notification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triggered to grab attention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event is recorded in a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 file with file name, action, and timestamp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can securely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 logs using a password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helps in identifying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unauthorized or malicious behavior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2741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9660" y="158962"/>
            <a:ext cx="4305300" cy="2857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2709" y="150941"/>
            <a:ext cx="6788217" cy="6524863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 fontAlgn="base"/>
            <a:r>
              <a:rPr lang="en-US" sz="3200" b="1" dirty="0"/>
              <a:t>Flowchart: Working of </a:t>
            </a:r>
            <a:r>
              <a:rPr lang="en-US" sz="3200" b="1" dirty="0" smtClean="0"/>
              <a:t>System</a:t>
            </a:r>
            <a:endParaRPr lang="en-US" dirty="0"/>
          </a:p>
          <a:p>
            <a:pPr algn="ctr" fontAlgn="base"/>
            <a:r>
              <a:rPr lang="en-US" sz="1600" b="1" dirty="0"/>
              <a:t>Start</a:t>
            </a:r>
          </a:p>
          <a:p>
            <a:pPr algn="ctr" fontAlgn="base"/>
            <a:r>
              <a:rPr lang="en-US" sz="1600" b="1" dirty="0"/>
              <a:t>  ↓</a:t>
            </a:r>
          </a:p>
          <a:p>
            <a:pPr algn="ctr" fontAlgn="base"/>
            <a:r>
              <a:rPr lang="en-US" sz="1600" b="1" dirty="0"/>
              <a:t>Create Canary Files (Decoy Files)</a:t>
            </a:r>
          </a:p>
          <a:p>
            <a:pPr algn="ctr" fontAlgn="base"/>
            <a:r>
              <a:rPr lang="en-US" sz="1600" b="1" dirty="0"/>
              <a:t>  ↓</a:t>
            </a:r>
          </a:p>
          <a:p>
            <a:pPr algn="ctr" fontAlgn="base"/>
            <a:r>
              <a:rPr lang="en-US" sz="1600" b="1" dirty="0"/>
              <a:t>Display Menu to User</a:t>
            </a:r>
          </a:p>
          <a:p>
            <a:pPr algn="ctr" fontAlgn="base"/>
            <a:r>
              <a:rPr lang="en-US" sz="1600" b="1" dirty="0"/>
              <a:t>  ↓</a:t>
            </a:r>
          </a:p>
          <a:p>
            <a:pPr algn="ctr" fontAlgn="base"/>
            <a:r>
              <a:rPr lang="en-US" sz="1600" b="1" dirty="0"/>
              <a:t>User Selects Action</a:t>
            </a:r>
          </a:p>
          <a:p>
            <a:pPr algn="ctr" fontAlgn="base"/>
            <a:r>
              <a:rPr lang="en-US" sz="1600" b="1" dirty="0"/>
              <a:t>(Access / Modify / Delete)</a:t>
            </a:r>
          </a:p>
          <a:p>
            <a:pPr algn="ctr" fontAlgn="base"/>
            <a:r>
              <a:rPr lang="en-US" sz="1600" b="1" dirty="0"/>
              <a:t>  ↓</a:t>
            </a:r>
          </a:p>
          <a:p>
            <a:pPr algn="ctr" fontAlgn="base"/>
            <a:r>
              <a:rPr lang="en-US" sz="1600" b="1" dirty="0"/>
              <a:t>Check File Name</a:t>
            </a:r>
          </a:p>
          <a:p>
            <a:pPr algn="ctr" fontAlgn="base"/>
            <a:r>
              <a:rPr lang="en-US" sz="1600" b="1" dirty="0"/>
              <a:t>  ↓</a:t>
            </a:r>
          </a:p>
          <a:p>
            <a:pPr algn="ctr" fontAlgn="base"/>
            <a:r>
              <a:rPr lang="en-US" sz="1600" b="1" dirty="0"/>
              <a:t>Is it a Canary File?</a:t>
            </a:r>
          </a:p>
          <a:p>
            <a:pPr algn="ctr" fontAlgn="base"/>
            <a:r>
              <a:rPr lang="en-US" sz="1600" b="1" dirty="0"/>
              <a:t>   ↓            ↓</a:t>
            </a:r>
          </a:p>
          <a:p>
            <a:pPr algn="ctr" fontAlgn="base"/>
            <a:r>
              <a:rPr lang="en-US" sz="1600" b="1" dirty="0"/>
              <a:t>  YES           NO</a:t>
            </a:r>
          </a:p>
          <a:p>
            <a:pPr algn="ctr" fontAlgn="base"/>
            <a:r>
              <a:rPr lang="en-US" sz="1600" b="1" dirty="0"/>
              <a:t>   ↓             ↓</a:t>
            </a:r>
          </a:p>
          <a:p>
            <a:pPr algn="ctr" fontAlgn="base"/>
            <a:r>
              <a:rPr lang="en-US" sz="1600" b="1" dirty="0"/>
              <a:t>Generate Alert   Normal Action</a:t>
            </a:r>
          </a:p>
          <a:p>
            <a:pPr algn="ctr" fontAlgn="base"/>
            <a:r>
              <a:rPr lang="en-US" sz="1600" b="1" dirty="0"/>
              <a:t>(Sound + Screen)     ↓</a:t>
            </a:r>
          </a:p>
          <a:p>
            <a:pPr algn="ctr" fontAlgn="base"/>
            <a:r>
              <a:rPr lang="en-US" sz="1600" b="1" dirty="0"/>
              <a:t>   ↓             No Alert</a:t>
            </a:r>
          </a:p>
          <a:p>
            <a:pPr algn="ctr" fontAlgn="base"/>
            <a:r>
              <a:rPr lang="en-US" sz="1600" b="1" dirty="0"/>
              <a:t>Save Log (Time, Action, File)</a:t>
            </a:r>
          </a:p>
          <a:p>
            <a:pPr algn="ctr" fontAlgn="base"/>
            <a:r>
              <a:rPr lang="en-US" sz="1600" b="1" dirty="0"/>
              <a:t>   ↓</a:t>
            </a:r>
          </a:p>
          <a:p>
            <a:pPr algn="ctr" fontAlgn="base"/>
            <a:r>
              <a:rPr lang="en-US" sz="1600" b="1" dirty="0"/>
              <a:t>Admin Can View Logs</a:t>
            </a:r>
          </a:p>
          <a:p>
            <a:pPr algn="ctr" fontAlgn="base"/>
            <a:r>
              <a:rPr lang="en-US" sz="1600" b="1" dirty="0"/>
              <a:t>   ↓</a:t>
            </a:r>
          </a:p>
          <a:p>
            <a:pPr algn="ctr" fontAlgn="base"/>
            <a:r>
              <a:rPr lang="en-US" sz="1600" b="1" dirty="0"/>
              <a:t>End / Repeat</a:t>
            </a:r>
            <a:endParaRPr lang="en-US" sz="1600" b="1" dirty="0" smtClean="0"/>
          </a:p>
          <a:p>
            <a:pPr fontAlgn="base"/>
            <a:endParaRPr lang="en-US" dirty="0" smtClean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660449"/>
              </p:ext>
            </p:extLst>
          </p:nvPr>
        </p:nvGraphicFramePr>
        <p:xfrm>
          <a:off x="12651271" y="2936239"/>
          <a:ext cx="1721888" cy="5369292"/>
        </p:xfrm>
        <a:graphic>
          <a:graphicData uri="http://schemas.openxmlformats.org/drawingml/2006/table">
            <a:tbl>
              <a:tblPr/>
              <a:tblGrid>
                <a:gridCol w="66842"/>
                <a:gridCol w="1655046"/>
              </a:tblGrid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 dirty="0">
                          <a:solidFill>
                            <a:srgbClr val="21455C"/>
                          </a:solidFill>
                          <a:effectLst/>
                        </a:rPr>
                        <a:t>Low</a:t>
                      </a:r>
                    </a:p>
                  </a:txBody>
                  <a:tcPr marL="20721" marR="20721" marT="20721" marB="20721">
                    <a:lnL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BD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 dirty="0">
                          <a:solidFill>
                            <a:srgbClr val="21455C"/>
                          </a:solidFill>
                          <a:effectLst/>
                        </a:rPr>
                        <a:t>Experts employed by companies to test and improve their </a:t>
                      </a:r>
                      <a:r>
                        <a:rPr lang="en-US" sz="1200" b="0" i="0" dirty="0" err="1">
                          <a:solidFill>
                            <a:srgbClr val="21455C"/>
                          </a:solidFill>
                          <a:effectLst/>
                        </a:rPr>
                        <a:t>cybersecurity</a:t>
                      </a:r>
                      <a:r>
                        <a:rPr lang="en-US" sz="1200" b="0" i="0" dirty="0">
                          <a:solidFill>
                            <a:srgbClr val="21455C"/>
                          </a:solidFill>
                          <a:effectLst/>
                        </a:rPr>
                        <a:t>.</a:t>
                      </a:r>
                    </a:p>
                  </a:txBody>
                  <a:tcPr marL="20721" marR="20721" marT="20721" marB="20721">
                    <a:lnL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>
                          <a:solidFill>
                            <a:srgbClr val="21455C"/>
                          </a:solidFill>
                          <a:effectLst/>
                        </a:rPr>
                        <a:t>Low</a:t>
                      </a:r>
                    </a:p>
                  </a:txBody>
                  <a:tcPr marL="20721" marR="20721" marT="20721" marB="20721" anchor="ctr">
                    <a:lnL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BD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20721" marR="20721" marT="20721" marB="20721" anchor="ctr">
                    <a:lnL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>
                          <a:solidFill>
                            <a:srgbClr val="21455C"/>
                          </a:solidFill>
                          <a:effectLst/>
                        </a:rPr>
                        <a:t>Low</a:t>
                      </a:r>
                    </a:p>
                  </a:txBody>
                  <a:tcPr marL="20721" marR="20721" marT="20721" marB="20721" anchor="ctr">
                    <a:lnL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BD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20721" marR="20721" marT="20721" marB="20721" anchor="ctr">
                    <a:lnL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>
                          <a:solidFill>
                            <a:srgbClr val="21455C"/>
                          </a:solidFill>
                          <a:effectLst/>
                        </a:rPr>
                        <a:t>Medium</a:t>
                      </a:r>
                    </a:p>
                  </a:txBody>
                  <a:tcPr marL="20721" marR="20721" marT="20721" marB="20721" anchor="ctr">
                    <a:lnL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20721" marR="20721" marT="20721" marB="20721" anchor="ctr">
                    <a:lnL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>
                          <a:solidFill>
                            <a:srgbClr val="21455C"/>
                          </a:solidFill>
                          <a:effectLst/>
                        </a:rPr>
                        <a:t>Medium</a:t>
                      </a:r>
                    </a:p>
                  </a:txBody>
                  <a:tcPr marL="20721" marR="20721" marT="20721" marB="20721" anchor="ctr">
                    <a:lnL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20721" marR="20721" marT="20721" marB="20721" anchor="ctr">
                    <a:lnL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>
                          <a:solidFill>
                            <a:srgbClr val="21455C"/>
                          </a:solidFill>
                          <a:effectLst/>
                        </a:rPr>
                        <a:t>Medium</a:t>
                      </a:r>
                    </a:p>
                  </a:txBody>
                  <a:tcPr marL="20721" marR="20721" marT="20721" marB="20721" anchor="ctr">
                    <a:lnL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 dirty="0">
                          <a:solidFill>
                            <a:srgbClr val="21455C"/>
                          </a:solidFill>
                          <a:effectLst/>
                        </a:rPr>
                        <a:t>Novices who use pre-created scripts and programs for hacking.</a:t>
                      </a:r>
                    </a:p>
                  </a:txBody>
                  <a:tcPr marL="20721" marR="20721" marT="20721" marB="20721" anchor="ctr">
                    <a:lnL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9A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598" y="3198768"/>
            <a:ext cx="4305300" cy="3477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495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9140" y="214287"/>
            <a:ext cx="11744614" cy="1015663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 fontAlgn="base"/>
            <a:r>
              <a:rPr lang="en-US" sz="6000" b="1" dirty="0" smtClean="0"/>
              <a:t>RUNNING DEMO OF PROJECT</a:t>
            </a:r>
            <a:endParaRPr lang="en-US" sz="6000" b="1" dirty="0"/>
          </a:p>
        </p:txBody>
      </p:sp>
      <p:pic>
        <p:nvPicPr>
          <p:cNvPr id="6" name="ScreenRec_260419_786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8215" y="1229950"/>
            <a:ext cx="11744614" cy="562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09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954" y="342046"/>
            <a:ext cx="11620989" cy="4339369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/>
              <a:t>THANK YOU FOR YOUR ATTENTION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3446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</a:spPr>
      <a:bodyPr wrap="square" lIns="91440" tIns="45720" rIns="91440" bIns="45720">
        <a:spAutoFit/>
      </a:bodyPr>
      <a:lstStyle>
        <a:defPPr algn="ctr">
          <a:defRPr sz="5400" b="1" cap="none" spc="0" dirty="0" smtClean="0">
            <a:ln w="13462">
              <a:solidFill>
                <a:schemeClr val="bg1"/>
              </a:solidFill>
              <a:prstDash val="solid"/>
            </a:ln>
            <a:solidFill>
              <a:schemeClr val="tx1">
                <a:lumMod val="85000"/>
                <a:lumOff val="15000"/>
              </a:schemeClr>
            </a:solidFill>
            <a:effectLst>
              <a:outerShdw dist="38100" dir="2700000" algn="bl" rotWithShape="0">
                <a:schemeClr val="accent5"/>
              </a:outerShdw>
            </a:effectLst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547</TotalTime>
  <Words>303</Words>
  <Application>Microsoft Office PowerPoint</Application>
  <PresentationFormat>Widescreen</PresentationFormat>
  <Paragraphs>66</Paragraphs>
  <Slides>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Arial Black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ATTENTION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mslm</dc:creator>
  <cp:lastModifiedBy>mslm</cp:lastModifiedBy>
  <cp:revision>46</cp:revision>
  <dcterms:created xsi:type="dcterms:W3CDTF">2024-11-25T11:09:16Z</dcterms:created>
  <dcterms:modified xsi:type="dcterms:W3CDTF">2026-04-19T18:22:33Z</dcterms:modified>
</cp:coreProperties>
</file>